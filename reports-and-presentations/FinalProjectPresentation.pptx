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76932A3-9EBD-43A1-9D4D-02491457EB57}">
  <a:tblStyle styleId="{976932A3-9EBD-43A1-9D4D-02491457EB5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da1c89cf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da1c89cf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dda1c89cf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dda1c89cf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dda1c89cf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dda1c89cf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da1c89cf8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dda1c89cf8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dda1c89cf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dda1c89cf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dda1c89cf8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dda1c89cf8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dda1c89cf8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dda1c89cf8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dda1c89cf8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dda1c89cf8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da1c89cf8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dda1c89cf8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Predicting Album Scores </a:t>
            </a:r>
            <a:r>
              <a:rPr lang="en"/>
              <a:t>Based on</a:t>
            </a:r>
            <a:r>
              <a:rPr lang="en"/>
              <a:t> Their Reviews </a:t>
            </a:r>
            <a:r>
              <a:rPr lang="en"/>
              <a:t>with </a:t>
            </a:r>
            <a:r>
              <a:rPr lang="en"/>
              <a:t>Sentiment Analysis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by Jason Serduke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Non-transformer models, such as the recurrent neural network, have no longer really been in vogue since the rise of large language models</a:t>
            </a:r>
            <a:endParaRPr/>
          </a:p>
          <a:p>
            <a:pPr indent="-342900" lvl="0" marL="457200" rtl="0" algn="l">
              <a:spcBef>
                <a:spcPts val="0"/>
              </a:spcBef>
              <a:spcAft>
                <a:spcPts val="0"/>
              </a:spcAft>
              <a:buSzPts val="1800"/>
              <a:buChar char="●"/>
            </a:pPr>
            <a:r>
              <a:rPr lang="en"/>
              <a:t>First instinct to automate a task </a:t>
            </a:r>
            <a:r>
              <a:rPr lang="en"/>
              <a:t>is often to prompt an LLM</a:t>
            </a:r>
            <a:endParaRPr/>
          </a:p>
          <a:p>
            <a:pPr indent="-342900" lvl="0" marL="457200" rtl="0" algn="l">
              <a:spcBef>
                <a:spcPts val="0"/>
              </a:spcBef>
              <a:spcAft>
                <a:spcPts val="0"/>
              </a:spcAft>
              <a:buSzPts val="1800"/>
              <a:buChar char="●"/>
            </a:pPr>
            <a:r>
              <a:rPr lang="en"/>
              <a:t>I wanted to see for myself if RNNs still have a place in the natural language processing landscape</a:t>
            </a:r>
            <a:endParaRPr/>
          </a:p>
          <a:p>
            <a:pPr indent="-342900" lvl="0" marL="457200" rtl="0" algn="l">
              <a:spcBef>
                <a:spcPts val="0"/>
              </a:spcBef>
              <a:spcAft>
                <a:spcPts val="0"/>
              </a:spcAft>
              <a:buSzPts val="1800"/>
              <a:buChar char="●"/>
            </a:pPr>
            <a:r>
              <a:rPr lang="en"/>
              <a:t>Good excuse to learn about the architecture and get more intimate understanding of how they work</a:t>
            </a:r>
            <a:endParaRPr/>
          </a:p>
          <a:p>
            <a:pPr indent="-342900" lvl="0" marL="457200" rtl="0" algn="l">
              <a:spcBef>
                <a:spcPts val="0"/>
              </a:spcBef>
              <a:spcAft>
                <a:spcPts val="0"/>
              </a:spcAft>
              <a:buSzPts val="1800"/>
              <a:buChar char="●"/>
            </a:pPr>
            <a:r>
              <a:rPr lang="en"/>
              <a:t>I love music discussion and just thought that this would be a fun and interesting project</a:t>
            </a:r>
            <a:endParaRPr/>
          </a:p>
          <a:p>
            <a:pPr indent="-342900" lvl="0" marL="457200" rtl="0" algn="l">
              <a:spcBef>
                <a:spcPts val="0"/>
              </a:spcBef>
              <a:spcAft>
                <a:spcPts val="0"/>
              </a:spcAft>
              <a:buSzPts val="1800"/>
              <a:buChar char="●"/>
            </a:pPr>
            <a:r>
              <a:rPr lang="en"/>
              <a:t>Take what I learned and apply it to this field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Overview</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Train a recurrent neural network to classify album reviews into those that correspond with high scores versus low sores, and see how they compare to a human and a foundation model</a:t>
            </a:r>
            <a:br>
              <a:rPr lang="en"/>
            </a:br>
            <a:endParaRPr/>
          </a:p>
          <a:p>
            <a:pPr indent="-342900" lvl="0" marL="457200" rtl="0" algn="l">
              <a:spcBef>
                <a:spcPts val="0"/>
              </a:spcBef>
              <a:spcAft>
                <a:spcPts val="0"/>
              </a:spcAft>
              <a:buSzPts val="1800"/>
              <a:buAutoNum type="arabicPeriod"/>
            </a:pPr>
            <a:r>
              <a:rPr lang="en"/>
              <a:t>Collect data from an album review website</a:t>
            </a:r>
            <a:endParaRPr/>
          </a:p>
          <a:p>
            <a:pPr indent="-342900" lvl="0" marL="457200" rtl="0" algn="l">
              <a:spcBef>
                <a:spcPts val="0"/>
              </a:spcBef>
              <a:spcAft>
                <a:spcPts val="0"/>
              </a:spcAft>
              <a:buSzPts val="1800"/>
              <a:buAutoNum type="arabicPeriod"/>
            </a:pPr>
            <a:r>
              <a:rPr lang="en"/>
              <a:t>Decide on model architecture</a:t>
            </a:r>
            <a:endParaRPr/>
          </a:p>
          <a:p>
            <a:pPr indent="-342900" lvl="0" marL="457200" rtl="0" algn="l">
              <a:spcBef>
                <a:spcPts val="0"/>
              </a:spcBef>
              <a:spcAft>
                <a:spcPts val="0"/>
              </a:spcAft>
              <a:buSzPts val="1800"/>
              <a:buAutoNum type="arabicPeriod"/>
            </a:pPr>
            <a:r>
              <a:rPr lang="en"/>
              <a:t>Train the model</a:t>
            </a:r>
            <a:endParaRPr/>
          </a:p>
          <a:p>
            <a:pPr indent="-342900" lvl="0" marL="457200" rtl="0" algn="l">
              <a:spcBef>
                <a:spcPts val="0"/>
              </a:spcBef>
              <a:spcAft>
                <a:spcPts val="0"/>
              </a:spcAft>
              <a:buSzPts val="1800"/>
              <a:buAutoNum type="arabicPeriod"/>
            </a:pPr>
            <a:r>
              <a:rPr lang="en"/>
              <a:t>Tune hyperparameters</a:t>
            </a:r>
            <a:endParaRPr/>
          </a:p>
          <a:p>
            <a:pPr indent="-342900" lvl="0" marL="457200" rtl="0" algn="l">
              <a:spcBef>
                <a:spcPts val="0"/>
              </a:spcBef>
              <a:spcAft>
                <a:spcPts val="0"/>
              </a:spcAft>
              <a:buSzPts val="1800"/>
              <a:buAutoNum type="arabicPeriod"/>
            </a:pPr>
            <a:r>
              <a:rPr lang="en"/>
              <a:t>Assess baselines</a:t>
            </a:r>
            <a:endParaRPr/>
          </a:p>
          <a:p>
            <a:pPr indent="-342900" lvl="0" marL="457200" rtl="0" algn="l">
              <a:spcBef>
                <a:spcPts val="0"/>
              </a:spcBef>
              <a:spcAft>
                <a:spcPts val="0"/>
              </a:spcAft>
              <a:buSzPts val="1800"/>
              <a:buAutoNum type="arabicPeriod"/>
            </a:pPr>
            <a:r>
              <a:rPr lang="en"/>
              <a:t>Compare results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Collection</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Wrote a Python script and used the libraries, urllib.request and Beautiful Soup, to get reviews and corresponding scores from the album review website, Album of The Year</a:t>
            </a:r>
            <a:endParaRPr/>
          </a:p>
          <a:p>
            <a:pPr indent="-342900" lvl="0" marL="457200" rtl="0" algn="l">
              <a:spcBef>
                <a:spcPts val="0"/>
              </a:spcBef>
              <a:spcAft>
                <a:spcPts val="0"/>
              </a:spcAft>
              <a:buSzPts val="1800"/>
              <a:buChar char="●"/>
            </a:pPr>
            <a:r>
              <a:rPr lang="en"/>
              <a:t>First time, ended up with a disproportionate amount of positive reviews versus negative, ended up with too much “weight” in the model</a:t>
            </a:r>
            <a:endParaRPr/>
          </a:p>
          <a:p>
            <a:pPr indent="-342900" lvl="0" marL="457200" rtl="0" algn="l">
              <a:spcBef>
                <a:spcPts val="0"/>
              </a:spcBef>
              <a:spcAft>
                <a:spcPts val="0"/>
              </a:spcAft>
              <a:buSzPts val="1800"/>
              <a:buChar char="●"/>
            </a:pPr>
            <a:r>
              <a:rPr lang="en"/>
              <a:t>Went back to collect more </a:t>
            </a:r>
            <a:r>
              <a:rPr lang="en"/>
              <a:t>negative </a:t>
            </a:r>
            <a:br>
              <a:rPr lang="en"/>
            </a:br>
            <a:r>
              <a:rPr lang="en"/>
              <a:t>reviews and then made a dataset </a:t>
            </a:r>
            <a:br>
              <a:rPr lang="en"/>
            </a:br>
            <a:r>
              <a:rPr lang="en"/>
              <a:t>with equivalent numbers of each type</a:t>
            </a:r>
            <a:endParaRPr/>
          </a:p>
          <a:p>
            <a:pPr indent="0" lvl="0" marL="457200" rtl="0" algn="l">
              <a:spcBef>
                <a:spcPts val="1200"/>
              </a:spcBef>
              <a:spcAft>
                <a:spcPts val="1200"/>
              </a:spcAft>
              <a:buNone/>
            </a:pPr>
            <a:r>
              <a:t/>
            </a:r>
            <a:endParaRPr/>
          </a:p>
        </p:txBody>
      </p:sp>
      <p:graphicFrame>
        <p:nvGraphicFramePr>
          <p:cNvPr id="74" name="Google Shape;74;p16"/>
          <p:cNvGraphicFramePr/>
          <p:nvPr/>
        </p:nvGraphicFramePr>
        <p:xfrm>
          <a:off x="4903825" y="2952325"/>
          <a:ext cx="3000000" cy="3000000"/>
        </p:xfrm>
        <a:graphic>
          <a:graphicData uri="http://schemas.openxmlformats.org/drawingml/2006/table">
            <a:tbl>
              <a:tblPr>
                <a:noFill/>
                <a:tableStyleId>{976932A3-9EBD-43A1-9D4D-02491457EB57}</a:tableStyleId>
              </a:tblPr>
              <a:tblGrid>
                <a:gridCol w="1383900"/>
                <a:gridCol w="1383900"/>
                <a:gridCol w="1383900"/>
              </a:tblGrid>
              <a:tr h="506825">
                <a:tc>
                  <a:txBody>
                    <a:bodyPr/>
                    <a:lstStyle/>
                    <a:p>
                      <a:pPr indent="0" lvl="0" marL="0" rtl="0" algn="l">
                        <a:spcBef>
                          <a:spcPts val="0"/>
                        </a:spcBef>
                        <a:spcAft>
                          <a:spcPts val="0"/>
                        </a:spcAft>
                        <a:buNone/>
                      </a:pPr>
                      <a:r>
                        <a:rPr lang="en"/>
                        <a:t>Subset</a:t>
                      </a:r>
                      <a:endParaRPr/>
                    </a:p>
                  </a:txBody>
                  <a:tcPr marT="91425" marB="91425" marR="91425" marL="91425"/>
                </a:tc>
                <a:tc>
                  <a:txBody>
                    <a:bodyPr/>
                    <a:lstStyle/>
                    <a:p>
                      <a:pPr indent="0" lvl="0" marL="0" rtl="0" algn="l">
                        <a:spcBef>
                          <a:spcPts val="0"/>
                        </a:spcBef>
                        <a:spcAft>
                          <a:spcPts val="0"/>
                        </a:spcAft>
                        <a:buNone/>
                      </a:pPr>
                      <a:r>
                        <a:rPr lang="en"/>
                        <a:t>Percent</a:t>
                      </a:r>
                      <a:endParaRPr/>
                    </a:p>
                  </a:txBody>
                  <a:tcPr marT="91425" marB="91425" marR="91425" marL="91425"/>
                </a:tc>
                <a:tc>
                  <a:txBody>
                    <a:bodyPr/>
                    <a:lstStyle/>
                    <a:p>
                      <a:pPr indent="0" lvl="0" marL="0" rtl="0" algn="l">
                        <a:spcBef>
                          <a:spcPts val="0"/>
                        </a:spcBef>
                        <a:spcAft>
                          <a:spcPts val="0"/>
                        </a:spcAft>
                        <a:buNone/>
                      </a:pPr>
                      <a:r>
                        <a:rPr lang="en"/>
                        <a:t>Sample size</a:t>
                      </a:r>
                      <a:endParaRPr/>
                    </a:p>
                  </a:txBody>
                  <a:tcPr marT="91425" marB="91425" marR="91425" marL="91425"/>
                </a:tc>
              </a:tr>
              <a:tr h="381000">
                <a:tc>
                  <a:txBody>
                    <a:bodyPr/>
                    <a:lstStyle/>
                    <a:p>
                      <a:pPr indent="0" lvl="0" marL="0" rtl="0" algn="l">
                        <a:spcBef>
                          <a:spcPts val="0"/>
                        </a:spcBef>
                        <a:spcAft>
                          <a:spcPts val="0"/>
                        </a:spcAft>
                        <a:buNone/>
                      </a:pPr>
                      <a:r>
                        <a:rPr lang="en"/>
                        <a:t>Training</a:t>
                      </a:r>
                      <a:endParaRPr/>
                    </a:p>
                  </a:txBody>
                  <a:tcPr marT="91425" marB="91425" marR="91425" marL="91425"/>
                </a:tc>
                <a:tc>
                  <a:txBody>
                    <a:bodyPr/>
                    <a:lstStyle/>
                    <a:p>
                      <a:pPr indent="0" lvl="0" marL="0" rtl="0" algn="l">
                        <a:spcBef>
                          <a:spcPts val="0"/>
                        </a:spcBef>
                        <a:spcAft>
                          <a:spcPts val="0"/>
                        </a:spcAft>
                        <a:buNone/>
                      </a:pPr>
                      <a:r>
                        <a:rPr lang="en"/>
                        <a:t>64</a:t>
                      </a:r>
                      <a:endParaRPr/>
                    </a:p>
                  </a:txBody>
                  <a:tcPr marT="91425" marB="91425" marR="91425" marL="91425"/>
                </a:tc>
                <a:tc>
                  <a:txBody>
                    <a:bodyPr/>
                    <a:lstStyle/>
                    <a:p>
                      <a:pPr indent="0" lvl="0" marL="0" rtl="0" algn="l">
                        <a:spcBef>
                          <a:spcPts val="0"/>
                        </a:spcBef>
                        <a:spcAft>
                          <a:spcPts val="0"/>
                        </a:spcAft>
                        <a:buNone/>
                      </a:pPr>
                      <a:r>
                        <a:rPr lang="en"/>
                        <a:t>9893</a:t>
                      </a:r>
                      <a:endParaRPr/>
                    </a:p>
                  </a:txBody>
                  <a:tcPr marT="91425" marB="91425" marR="91425" marL="91425"/>
                </a:tc>
              </a:tr>
              <a:tr h="381000">
                <a:tc>
                  <a:txBody>
                    <a:bodyPr/>
                    <a:lstStyle/>
                    <a:p>
                      <a:pPr indent="0" lvl="0" marL="0" rtl="0" algn="l">
                        <a:spcBef>
                          <a:spcPts val="0"/>
                        </a:spcBef>
                        <a:spcAft>
                          <a:spcPts val="0"/>
                        </a:spcAft>
                        <a:buNone/>
                      </a:pPr>
                      <a:r>
                        <a:rPr lang="en"/>
                        <a:t>Validation</a:t>
                      </a:r>
                      <a:endParaRPr/>
                    </a:p>
                  </a:txBody>
                  <a:tcPr marT="91425" marB="91425" marR="91425" marL="91425"/>
                </a:tc>
                <a:tc>
                  <a:txBody>
                    <a:bodyPr/>
                    <a:lstStyle/>
                    <a:p>
                      <a:pPr indent="0" lvl="0" marL="0" rtl="0" algn="l">
                        <a:spcBef>
                          <a:spcPts val="0"/>
                        </a:spcBef>
                        <a:spcAft>
                          <a:spcPts val="0"/>
                        </a:spcAft>
                        <a:buNone/>
                      </a:pPr>
                      <a:r>
                        <a:rPr lang="en"/>
                        <a:t>16</a:t>
                      </a:r>
                      <a:endParaRPr/>
                    </a:p>
                  </a:txBody>
                  <a:tcPr marT="91425" marB="91425" marR="91425" marL="91425"/>
                </a:tc>
                <a:tc>
                  <a:txBody>
                    <a:bodyPr/>
                    <a:lstStyle/>
                    <a:p>
                      <a:pPr indent="0" lvl="0" marL="0" rtl="0" algn="l">
                        <a:spcBef>
                          <a:spcPts val="0"/>
                        </a:spcBef>
                        <a:spcAft>
                          <a:spcPts val="0"/>
                        </a:spcAft>
                        <a:buNone/>
                      </a:pPr>
                      <a:r>
                        <a:rPr lang="en"/>
                        <a:t>2473</a:t>
                      </a:r>
                      <a:endParaRPr/>
                    </a:p>
                  </a:txBody>
                  <a:tcPr marT="91425" marB="91425" marR="91425" marL="91425"/>
                </a:tc>
              </a:tr>
              <a:tr h="381000">
                <a:tc>
                  <a:txBody>
                    <a:bodyPr/>
                    <a:lstStyle/>
                    <a:p>
                      <a:pPr indent="0" lvl="0" marL="0" rtl="0" algn="l">
                        <a:spcBef>
                          <a:spcPts val="0"/>
                        </a:spcBef>
                        <a:spcAft>
                          <a:spcPts val="0"/>
                        </a:spcAft>
                        <a:buNone/>
                      </a:pPr>
                      <a:r>
                        <a:rPr lang="en"/>
                        <a:t>Test</a:t>
                      </a:r>
                      <a:endParaRPr/>
                    </a:p>
                  </a:txBody>
                  <a:tcPr marT="91425" marB="91425" marR="91425" marL="91425"/>
                </a:tc>
                <a:tc>
                  <a:txBody>
                    <a:bodyPr/>
                    <a:lstStyle/>
                    <a:p>
                      <a:pPr indent="0" lvl="0" marL="0" rtl="0" algn="l">
                        <a:spcBef>
                          <a:spcPts val="0"/>
                        </a:spcBef>
                        <a:spcAft>
                          <a:spcPts val="0"/>
                        </a:spcAft>
                        <a:buNone/>
                      </a:pPr>
                      <a:r>
                        <a:rPr lang="en"/>
                        <a:t>20</a:t>
                      </a:r>
                      <a:endParaRPr/>
                    </a:p>
                  </a:txBody>
                  <a:tcPr marT="91425" marB="91425" marR="91425" marL="91425"/>
                </a:tc>
                <a:tc>
                  <a:txBody>
                    <a:bodyPr/>
                    <a:lstStyle/>
                    <a:p>
                      <a:pPr indent="0" lvl="0" marL="0" rtl="0" algn="l">
                        <a:spcBef>
                          <a:spcPts val="0"/>
                        </a:spcBef>
                        <a:spcAft>
                          <a:spcPts val="0"/>
                        </a:spcAft>
                        <a:buNone/>
                      </a:pPr>
                      <a:r>
                        <a:rPr lang="en"/>
                        <a:t>3092</a:t>
                      </a:r>
                      <a:endParaRPr/>
                    </a:p>
                  </a:txBody>
                  <a:tcPr marT="91425" marB="91425" marR="91425" marL="91425"/>
                </a:tc>
              </a:tr>
              <a:tr h="381000">
                <a:tc>
                  <a:txBody>
                    <a:bodyPr/>
                    <a:lstStyle/>
                    <a:p>
                      <a:pPr indent="0" lvl="0" marL="0" rtl="0" algn="l">
                        <a:spcBef>
                          <a:spcPts val="0"/>
                        </a:spcBef>
                        <a:spcAft>
                          <a:spcPts val="0"/>
                        </a:spcAft>
                        <a:buNone/>
                      </a:pPr>
                      <a:r>
                        <a:rPr lang="en"/>
                        <a:t>Total</a:t>
                      </a:r>
                      <a:endParaRPr/>
                    </a:p>
                  </a:txBody>
                  <a:tcPr marT="91425" marB="91425" marR="91425" marL="91425"/>
                </a:tc>
                <a:tc>
                  <a:txBody>
                    <a:bodyPr/>
                    <a:lstStyle/>
                    <a:p>
                      <a:pPr indent="0" lvl="0" marL="0" rtl="0" algn="l">
                        <a:spcBef>
                          <a:spcPts val="0"/>
                        </a:spcBef>
                        <a:spcAft>
                          <a:spcPts val="0"/>
                        </a:spcAft>
                        <a:buNone/>
                      </a:pPr>
                      <a:r>
                        <a:rPr lang="en"/>
                        <a:t>100</a:t>
                      </a:r>
                      <a:endParaRPr/>
                    </a:p>
                  </a:txBody>
                  <a:tcPr marT="91425" marB="91425" marR="91425" marL="91425"/>
                </a:tc>
                <a:tc>
                  <a:txBody>
                    <a:bodyPr/>
                    <a:lstStyle/>
                    <a:p>
                      <a:pPr indent="0" lvl="0" marL="0" rtl="0" algn="l">
                        <a:spcBef>
                          <a:spcPts val="0"/>
                        </a:spcBef>
                        <a:spcAft>
                          <a:spcPts val="0"/>
                        </a:spcAft>
                        <a:buNone/>
                      </a:pPr>
                      <a:r>
                        <a:rPr lang="en"/>
                        <a:t>15,458</a:t>
                      </a:r>
                      <a:endParaRPr/>
                    </a:p>
                  </a:txBody>
                  <a:tcPr marT="91425" marB="91425" marR="91425" marL="91425"/>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Model</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Recurrent Neural Network from TensorFlow</a:t>
            </a:r>
            <a:endParaRPr/>
          </a:p>
          <a:p>
            <a:pPr indent="-317500" lvl="1" marL="914400" rtl="0" algn="l">
              <a:spcBef>
                <a:spcPts val="0"/>
              </a:spcBef>
              <a:spcAft>
                <a:spcPts val="0"/>
              </a:spcAft>
              <a:buSzPts val="1400"/>
              <a:buChar char="○"/>
            </a:pPr>
            <a:r>
              <a:rPr lang="en"/>
              <a:t>By feeding previous hidden state back into weight matrix, has access to past context</a:t>
            </a:r>
            <a:endParaRPr/>
          </a:p>
          <a:p>
            <a:pPr indent="-317500" lvl="1" marL="914400" rtl="0" algn="l">
              <a:spcBef>
                <a:spcPts val="0"/>
              </a:spcBef>
              <a:spcAft>
                <a:spcPts val="0"/>
              </a:spcAft>
              <a:buSzPts val="1400"/>
              <a:buChar char="○"/>
            </a:pPr>
            <a:r>
              <a:rPr lang="en"/>
              <a:t>Can be enhanced with bidirectionality, which allows it to use context from the beginning to the current word and from the end to the current word, capturing meaning both before and after the current word</a:t>
            </a:r>
            <a:endParaRPr/>
          </a:p>
          <a:p>
            <a:pPr indent="-317500" lvl="1" marL="914400" rtl="0" algn="l">
              <a:spcBef>
                <a:spcPts val="0"/>
              </a:spcBef>
              <a:spcAft>
                <a:spcPts val="0"/>
              </a:spcAft>
              <a:buSzPts val="1400"/>
              <a:buChar char="○"/>
            </a:pPr>
            <a:r>
              <a:rPr lang="en"/>
              <a:t>Long short-term memory networks, extension of RNNs</a:t>
            </a:r>
            <a:endParaRPr/>
          </a:p>
          <a:p>
            <a:pPr indent="-317500" lvl="2" marL="1371600" rtl="0" algn="l">
              <a:spcBef>
                <a:spcPts val="0"/>
              </a:spcBef>
              <a:spcAft>
                <a:spcPts val="0"/>
              </a:spcAft>
              <a:buSzPts val="1400"/>
              <a:buChar char="■"/>
            </a:pPr>
            <a:r>
              <a:rPr lang="en"/>
              <a:t>Remove information that is no longer relevant or add information that may be needed later</a:t>
            </a:r>
            <a:endParaRPr/>
          </a:p>
          <a:p>
            <a:pPr indent="-317500" lvl="2" marL="1371600" rtl="0" algn="l">
              <a:spcBef>
                <a:spcPts val="0"/>
              </a:spcBef>
              <a:spcAft>
                <a:spcPts val="0"/>
              </a:spcAft>
              <a:buSzPts val="1400"/>
              <a:buChar char="■"/>
            </a:pPr>
            <a:r>
              <a:rPr lang="en"/>
              <a:t>Helps to alleviate the vanishing gradients issue, in which many repeated multiplication operations cause gradients to approach zero</a:t>
            </a:r>
            <a:endParaRPr/>
          </a:p>
          <a:p>
            <a:pPr indent="-342900" lvl="0" marL="457200" rtl="0" algn="l">
              <a:spcBef>
                <a:spcPts val="0"/>
              </a:spcBef>
              <a:spcAft>
                <a:spcPts val="0"/>
              </a:spcAft>
              <a:buSzPts val="1800"/>
              <a:buChar char="●"/>
            </a:pPr>
            <a:r>
              <a:rPr lang="en"/>
              <a:t>Used all three in my stack</a:t>
            </a:r>
            <a:endParaRPr/>
          </a:p>
          <a:p>
            <a:pPr indent="-342900" lvl="0" marL="457200" rtl="0" algn="l">
              <a:spcBef>
                <a:spcPts val="0"/>
              </a:spcBef>
              <a:spcAft>
                <a:spcPts val="0"/>
              </a:spcAft>
              <a:buSzPts val="1800"/>
              <a:buChar char="●"/>
            </a:pPr>
            <a:r>
              <a:rPr lang="en"/>
              <a:t>Did not stack multiple RNN layers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Tuning Hyperparameters</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Started off just tweaking the hyperparameters manually</a:t>
            </a:r>
            <a:endParaRPr/>
          </a:p>
          <a:p>
            <a:pPr indent="-342900" lvl="0" marL="457200" rtl="0" algn="l">
              <a:spcBef>
                <a:spcPts val="0"/>
              </a:spcBef>
              <a:spcAft>
                <a:spcPts val="0"/>
              </a:spcAft>
              <a:buSzPts val="1800"/>
              <a:buChar char="●"/>
            </a:pPr>
            <a:r>
              <a:rPr lang="en"/>
              <a:t>Worked well enough but was taking a while to optimize</a:t>
            </a:r>
            <a:endParaRPr/>
          </a:p>
          <a:p>
            <a:pPr indent="-342900" lvl="0" marL="457200" rtl="0" algn="l">
              <a:spcBef>
                <a:spcPts val="0"/>
              </a:spcBef>
              <a:spcAft>
                <a:spcPts val="0"/>
              </a:spcAft>
              <a:buSzPts val="1800"/>
              <a:buChar char="●"/>
            </a:pPr>
            <a:r>
              <a:rPr lang="en"/>
              <a:t>Found out about Keras Tuner library</a:t>
            </a:r>
            <a:endParaRPr/>
          </a:p>
          <a:p>
            <a:pPr indent="-342900" lvl="0" marL="457200" rtl="0" algn="l">
              <a:spcBef>
                <a:spcPts val="0"/>
              </a:spcBef>
              <a:spcAft>
                <a:spcPts val="0"/>
              </a:spcAft>
              <a:buSzPts val="1800"/>
              <a:buChar char="●"/>
            </a:pPr>
            <a:r>
              <a:rPr lang="en"/>
              <a:t>Used the Hyperband algorithm</a:t>
            </a:r>
            <a:endParaRPr/>
          </a:p>
          <a:p>
            <a:pPr indent="-317500" lvl="1" marL="914400" rtl="0" algn="l">
              <a:spcBef>
                <a:spcPts val="0"/>
              </a:spcBef>
              <a:spcAft>
                <a:spcPts val="0"/>
              </a:spcAft>
              <a:buSzPts val="1400"/>
              <a:buChar char="○"/>
            </a:pPr>
            <a:r>
              <a:rPr lang="en"/>
              <a:t>Tests out different sets of hyperparameters</a:t>
            </a:r>
            <a:endParaRPr/>
          </a:p>
          <a:p>
            <a:pPr indent="-317500" lvl="1" marL="914400" rtl="0" algn="l">
              <a:spcBef>
                <a:spcPts val="0"/>
              </a:spcBef>
              <a:spcAft>
                <a:spcPts val="0"/>
              </a:spcAft>
              <a:buSzPts val="1400"/>
              <a:buChar char="○"/>
            </a:pPr>
            <a:r>
              <a:rPr lang="en"/>
              <a:t>Keeps track of which set has performed the best</a:t>
            </a:r>
            <a:endParaRPr/>
          </a:p>
          <a:p>
            <a:pPr indent="-317500" lvl="1" marL="914400" rtl="0" algn="l">
              <a:spcBef>
                <a:spcPts val="0"/>
              </a:spcBef>
              <a:spcAft>
                <a:spcPts val="0"/>
              </a:spcAft>
              <a:buSzPts val="1400"/>
              <a:buChar char="○"/>
            </a:pPr>
            <a:r>
              <a:rPr lang="en"/>
              <a:t>Can cut off </a:t>
            </a:r>
            <a:r>
              <a:rPr lang="en"/>
              <a:t>training early if it’s not going to be successful</a:t>
            </a:r>
            <a:endParaRPr/>
          </a:p>
          <a:p>
            <a:pPr indent="-342900" lvl="0" marL="457200" rtl="0" algn="l">
              <a:spcBef>
                <a:spcPts val="0"/>
              </a:spcBef>
              <a:spcAft>
                <a:spcPts val="0"/>
              </a:spcAft>
              <a:buSzPts val="1800"/>
              <a:buChar char="●"/>
            </a:pPr>
            <a:r>
              <a:rPr lang="en"/>
              <a:t>Vocabulary size seemed to be the most consequential option in the end</a:t>
            </a:r>
            <a:endParaRPr/>
          </a:p>
          <a:p>
            <a:pPr indent="-342900" lvl="0" marL="457200" rtl="0" algn="l">
              <a:spcBef>
                <a:spcPts val="0"/>
              </a:spcBef>
              <a:spcAft>
                <a:spcPts val="0"/>
              </a:spcAft>
              <a:buSzPts val="1800"/>
              <a:buChar char="●"/>
            </a:pPr>
            <a:r>
              <a:rPr lang="en"/>
              <a:t>Performance consistently improved by increasing it and in the end, uncapped was the best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Baselines</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Two </a:t>
            </a:r>
            <a:r>
              <a:rPr lang="en"/>
              <a:t>baselines</a:t>
            </a:r>
            <a:r>
              <a:rPr lang="en"/>
              <a:t>, based on what would’ve </a:t>
            </a:r>
            <a:br>
              <a:rPr lang="en"/>
            </a:br>
            <a:r>
              <a:rPr lang="en"/>
              <a:t>been my go-to strategies if I’d had this </a:t>
            </a:r>
            <a:br>
              <a:rPr lang="en"/>
            </a:br>
            <a:r>
              <a:rPr lang="en"/>
              <a:t>categorization task before taking this class</a:t>
            </a:r>
            <a:endParaRPr/>
          </a:p>
          <a:p>
            <a:pPr indent="-317500" lvl="1" marL="914400" rtl="0" algn="l">
              <a:spcBef>
                <a:spcPts val="0"/>
              </a:spcBef>
              <a:spcAft>
                <a:spcPts val="0"/>
              </a:spcAft>
              <a:buSzPts val="1400"/>
              <a:buChar char="○"/>
            </a:pPr>
            <a:r>
              <a:rPr lang="en"/>
              <a:t>Human</a:t>
            </a:r>
            <a:endParaRPr/>
          </a:p>
          <a:p>
            <a:pPr indent="-317500" lvl="2" marL="1371600" rtl="0" algn="l">
              <a:spcBef>
                <a:spcPts val="0"/>
              </a:spcBef>
              <a:spcAft>
                <a:spcPts val="0"/>
              </a:spcAft>
              <a:buSzPts val="1400"/>
              <a:buChar char="■"/>
            </a:pPr>
            <a:r>
              <a:rPr lang="en"/>
              <a:t>Printed out a list of 200 random reviews </a:t>
            </a:r>
            <a:br>
              <a:rPr lang="en"/>
            </a:br>
            <a:r>
              <a:rPr lang="en"/>
              <a:t>for them</a:t>
            </a:r>
            <a:endParaRPr/>
          </a:p>
          <a:p>
            <a:pPr indent="-317500" lvl="2" marL="1371600" rtl="0" algn="l">
              <a:spcBef>
                <a:spcPts val="0"/>
              </a:spcBef>
              <a:spcAft>
                <a:spcPts val="0"/>
              </a:spcAft>
              <a:buSzPts val="1400"/>
              <a:buChar char="■"/>
            </a:pPr>
            <a:r>
              <a:rPr lang="en"/>
              <a:t>Had them mark whether they thought they </a:t>
            </a:r>
            <a:br>
              <a:rPr lang="en"/>
            </a:br>
            <a:r>
              <a:rPr lang="en"/>
              <a:t>corresponded to a high score or low score</a:t>
            </a:r>
            <a:endParaRPr/>
          </a:p>
          <a:p>
            <a:pPr indent="-317500" lvl="2" marL="1371600" rtl="0" algn="l">
              <a:spcBef>
                <a:spcPts val="0"/>
              </a:spcBef>
              <a:spcAft>
                <a:spcPts val="0"/>
              </a:spcAft>
              <a:buSzPts val="1400"/>
              <a:buChar char="■"/>
            </a:pPr>
            <a:r>
              <a:rPr lang="en"/>
              <a:t>Graded them at the end</a:t>
            </a:r>
            <a:endParaRPr/>
          </a:p>
          <a:p>
            <a:pPr indent="-317500" lvl="1" marL="914400" rtl="0" algn="l">
              <a:spcBef>
                <a:spcPts val="0"/>
              </a:spcBef>
              <a:spcAft>
                <a:spcPts val="0"/>
              </a:spcAft>
              <a:buSzPts val="1400"/>
              <a:buChar char="○"/>
            </a:pPr>
            <a:r>
              <a:rPr lang="en"/>
              <a:t>Large language model</a:t>
            </a:r>
            <a:endParaRPr/>
          </a:p>
          <a:p>
            <a:pPr indent="-317500" lvl="2" marL="1371600" rtl="0" algn="l">
              <a:spcBef>
                <a:spcPts val="0"/>
              </a:spcBef>
              <a:spcAft>
                <a:spcPts val="0"/>
              </a:spcAft>
              <a:buSzPts val="1400"/>
              <a:buChar char="■"/>
            </a:pPr>
            <a:r>
              <a:rPr lang="en"/>
              <a:t>Prompted ChatGPT with a zero-shot prompt</a:t>
            </a:r>
            <a:endParaRPr/>
          </a:p>
          <a:p>
            <a:pPr indent="-317500" lvl="2" marL="1371600" rtl="0" algn="l">
              <a:spcBef>
                <a:spcPts val="0"/>
              </a:spcBef>
              <a:spcAft>
                <a:spcPts val="0"/>
              </a:spcAft>
              <a:buSzPts val="1400"/>
              <a:buChar char="■"/>
            </a:pPr>
            <a:r>
              <a:rPr lang="en"/>
              <a:t>Graded them at the end</a:t>
            </a:r>
            <a:endParaRPr/>
          </a:p>
        </p:txBody>
      </p:sp>
      <p:sp>
        <p:nvSpPr>
          <p:cNvPr id="93" name="Google Shape;93;p19"/>
          <p:cNvSpPr txBox="1"/>
          <p:nvPr/>
        </p:nvSpPr>
        <p:spPr>
          <a:xfrm>
            <a:off x="5294376" y="124350"/>
            <a:ext cx="3816000" cy="4894800"/>
          </a:xfrm>
          <a:prstGeom prst="rect">
            <a:avLst/>
          </a:prstGeom>
          <a:noFill/>
          <a:ln cap="flat" cmpd="sng" w="28575">
            <a:solidFill>
              <a:schemeClr val="accent3"/>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800">
                <a:solidFill>
                  <a:schemeClr val="dk2"/>
                </a:solidFill>
              </a:rPr>
              <a:t>BACKGROUND: I scraped reviews and their corresponding scores from an album review website. I split the reviews into two groups: HIGH, with a score of 80 or greater, and LOW, with a score of 49 or less. Scores in between 50 and 79 have been excluded altogether.</a:t>
            </a:r>
            <a:endParaRPr sz="1800">
              <a:solidFill>
                <a:schemeClr val="dk2"/>
              </a:solidFill>
            </a:endParaRPr>
          </a:p>
          <a:p>
            <a:pPr indent="0" lvl="0" marL="0" rtl="0" algn="l">
              <a:spcBef>
                <a:spcPts val="0"/>
              </a:spcBef>
              <a:spcAft>
                <a:spcPts val="0"/>
              </a:spcAft>
              <a:buClr>
                <a:schemeClr val="dk1"/>
              </a:buClr>
              <a:buSzPts val="1100"/>
              <a:buFont typeface="Arial"/>
              <a:buNone/>
            </a:pPr>
            <a:r>
              <a:rPr lang="en" sz="1800">
                <a:solidFill>
                  <a:schemeClr val="dk2"/>
                </a:solidFill>
              </a:rPr>
              <a:t>INSTRUCTIONS: With the provided review, guess whether it corresponds to a HIGH score or a LOW score. Only respond with a single word: "HIGH" or "LOW".</a:t>
            </a:r>
            <a:endParaRPr sz="1800">
              <a:solidFill>
                <a:schemeClr val="dk2"/>
              </a:solidFill>
            </a:endParaRPr>
          </a:p>
          <a:p>
            <a:pPr indent="0" lvl="0" marL="0" rtl="0" algn="l">
              <a:spcBef>
                <a:spcPts val="0"/>
              </a:spcBef>
              <a:spcAft>
                <a:spcPts val="0"/>
              </a:spcAft>
              <a:buClr>
                <a:schemeClr val="dk1"/>
              </a:buClr>
              <a:buSzPts val="1100"/>
              <a:buFont typeface="Arial"/>
              <a:buNone/>
            </a:pPr>
            <a:r>
              <a:rPr lang="en" sz="1800">
                <a:solidFill>
                  <a:schemeClr val="dk2"/>
                </a:solidFill>
              </a:rPr>
              <a:t>RESTRICTION: Do not do any web searches.</a:t>
            </a:r>
            <a:endParaRPr sz="1800">
              <a:solidFill>
                <a:schemeClr val="dk2"/>
              </a:solidFill>
            </a:endParaRPr>
          </a:p>
          <a:p>
            <a:pPr indent="0" lvl="0" marL="0" rtl="0" algn="l">
              <a:spcBef>
                <a:spcPts val="0"/>
              </a:spcBef>
              <a:spcAft>
                <a:spcPts val="0"/>
              </a:spcAft>
              <a:buClr>
                <a:schemeClr val="dk1"/>
              </a:buClr>
              <a:buSzPts val="1100"/>
              <a:buFont typeface="Arial"/>
              <a:buNone/>
            </a:pPr>
            <a:r>
              <a:rPr lang="en" sz="1800">
                <a:solidFill>
                  <a:schemeClr val="dk2"/>
                </a:solidFill>
              </a:rPr>
              <a:t>REVIEW: [review]</a:t>
            </a:r>
            <a:endParaRPr sz="1800">
              <a:solidFill>
                <a:schemeClr val="dk2"/>
              </a:solidFill>
            </a:endParaRPr>
          </a:p>
          <a:p>
            <a:pPr indent="0" lvl="0" marL="0" rtl="0" algn="l">
              <a:spcBef>
                <a:spcPts val="0"/>
              </a:spcBef>
              <a:spcAft>
                <a:spcPts val="0"/>
              </a:spcAft>
              <a:buNone/>
            </a:pPr>
            <a:r>
              <a:rPr lang="en" sz="1800">
                <a:solidFill>
                  <a:schemeClr val="dk2"/>
                </a:solidFill>
              </a:rPr>
              <a:t>SCORE:</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As far as accuracy goes, the </a:t>
            </a:r>
            <a:br>
              <a:rPr lang="en"/>
            </a:br>
            <a:r>
              <a:rPr lang="en"/>
              <a:t>large language model did the </a:t>
            </a:r>
            <a:br>
              <a:rPr lang="en"/>
            </a:br>
            <a:r>
              <a:rPr lang="en"/>
              <a:t>best by far, with the </a:t>
            </a:r>
            <a:r>
              <a:rPr lang="en"/>
              <a:t>human participant performing the second-best and the RNN actually doing nearly as well</a:t>
            </a:r>
            <a:endParaRPr/>
          </a:p>
          <a:p>
            <a:pPr indent="-342900" lvl="0" marL="457200" rtl="0" algn="l">
              <a:spcBef>
                <a:spcPts val="0"/>
              </a:spcBef>
              <a:spcAft>
                <a:spcPts val="0"/>
              </a:spcAft>
              <a:buSzPts val="1800"/>
              <a:buChar char="●"/>
            </a:pPr>
            <a:r>
              <a:rPr lang="en"/>
              <a:t>On a short time scale, training from RNN takes up most time and resources so using a human and LLM are the more efficient options</a:t>
            </a:r>
            <a:endParaRPr/>
          </a:p>
          <a:p>
            <a:pPr indent="-342900" lvl="0" marL="457200" rtl="0" algn="l">
              <a:spcBef>
                <a:spcPts val="0"/>
              </a:spcBef>
              <a:spcAft>
                <a:spcPts val="0"/>
              </a:spcAft>
              <a:buSzPts val="1800"/>
              <a:buChar char="●"/>
            </a:pPr>
            <a:r>
              <a:rPr lang="en"/>
              <a:t>However, the more inferences there are over a long period of time, the more sense the RNN makes, as it can make inferences much quicker and for less cost</a:t>
            </a:r>
            <a:endParaRPr/>
          </a:p>
        </p:txBody>
      </p:sp>
      <p:graphicFrame>
        <p:nvGraphicFramePr>
          <p:cNvPr id="100" name="Google Shape;100;p20"/>
          <p:cNvGraphicFramePr/>
          <p:nvPr/>
        </p:nvGraphicFramePr>
        <p:xfrm>
          <a:off x="4118900" y="121675"/>
          <a:ext cx="3000000" cy="3000000"/>
        </p:xfrm>
        <a:graphic>
          <a:graphicData uri="http://schemas.openxmlformats.org/drawingml/2006/table">
            <a:tbl>
              <a:tblPr>
                <a:noFill/>
                <a:tableStyleId>{976932A3-9EBD-43A1-9D4D-02491457EB57}</a:tableStyleId>
              </a:tblPr>
              <a:tblGrid>
                <a:gridCol w="2413000"/>
                <a:gridCol w="2413000"/>
              </a:tblGrid>
              <a:tr h="381000">
                <a:tc>
                  <a:txBody>
                    <a:bodyPr/>
                    <a:lstStyle/>
                    <a:p>
                      <a:pPr indent="0" lvl="0" marL="0" rtl="0" algn="l">
                        <a:spcBef>
                          <a:spcPts val="0"/>
                        </a:spcBef>
                        <a:spcAft>
                          <a:spcPts val="0"/>
                        </a:spcAft>
                        <a:buNone/>
                      </a:pPr>
                      <a:r>
                        <a:rPr lang="en"/>
                        <a:t>Method</a:t>
                      </a:r>
                      <a:endParaRPr/>
                    </a:p>
                  </a:txBody>
                  <a:tcPr marT="91425" marB="91425" marR="91425" marL="91425"/>
                </a:tc>
                <a:tc>
                  <a:txBody>
                    <a:bodyPr/>
                    <a:lstStyle/>
                    <a:p>
                      <a:pPr indent="0" lvl="0" marL="0" rtl="0" algn="l">
                        <a:spcBef>
                          <a:spcPts val="0"/>
                        </a:spcBef>
                        <a:spcAft>
                          <a:spcPts val="0"/>
                        </a:spcAft>
                        <a:buNone/>
                      </a:pPr>
                      <a:r>
                        <a:rPr lang="en"/>
                        <a:t>Accuracy</a:t>
                      </a:r>
                      <a:endParaRPr/>
                    </a:p>
                  </a:txBody>
                  <a:tcPr marT="91425" marB="91425" marR="91425" marL="91425"/>
                </a:tc>
              </a:tr>
              <a:tr h="381000">
                <a:tc>
                  <a:txBody>
                    <a:bodyPr/>
                    <a:lstStyle/>
                    <a:p>
                      <a:pPr indent="0" lvl="0" marL="0" rtl="0" algn="l">
                        <a:spcBef>
                          <a:spcPts val="0"/>
                        </a:spcBef>
                        <a:spcAft>
                          <a:spcPts val="0"/>
                        </a:spcAft>
                        <a:buNone/>
                      </a:pPr>
                      <a:r>
                        <a:rPr lang="en"/>
                        <a:t>Recurrent neural network</a:t>
                      </a:r>
                      <a:endParaRPr/>
                    </a:p>
                  </a:txBody>
                  <a:tcPr marT="91425" marB="91425" marR="91425" marL="91425"/>
                </a:tc>
                <a:tc>
                  <a:txBody>
                    <a:bodyPr/>
                    <a:lstStyle/>
                    <a:p>
                      <a:pPr indent="0" lvl="0" marL="0" rtl="0" algn="l">
                        <a:spcBef>
                          <a:spcPts val="0"/>
                        </a:spcBef>
                        <a:spcAft>
                          <a:spcPts val="0"/>
                        </a:spcAft>
                        <a:buNone/>
                      </a:pPr>
                      <a:r>
                        <a:rPr lang="en"/>
                        <a:t>0.8370</a:t>
                      </a:r>
                      <a:endParaRPr/>
                    </a:p>
                  </a:txBody>
                  <a:tcPr marT="91425" marB="91425" marR="91425" marL="91425"/>
                </a:tc>
              </a:tr>
              <a:tr h="381000">
                <a:tc>
                  <a:txBody>
                    <a:bodyPr/>
                    <a:lstStyle/>
                    <a:p>
                      <a:pPr indent="0" lvl="0" marL="0" rtl="0" algn="l">
                        <a:spcBef>
                          <a:spcPts val="0"/>
                        </a:spcBef>
                        <a:spcAft>
                          <a:spcPts val="0"/>
                        </a:spcAft>
                        <a:buNone/>
                      </a:pPr>
                      <a:r>
                        <a:rPr lang="en"/>
                        <a:t>Human</a:t>
                      </a:r>
                      <a:endParaRPr/>
                    </a:p>
                  </a:txBody>
                  <a:tcPr marT="91425" marB="91425" marR="91425" marL="91425"/>
                </a:tc>
                <a:tc>
                  <a:txBody>
                    <a:bodyPr/>
                    <a:lstStyle/>
                    <a:p>
                      <a:pPr indent="0" lvl="0" marL="0" rtl="0" algn="l">
                        <a:spcBef>
                          <a:spcPts val="0"/>
                        </a:spcBef>
                        <a:spcAft>
                          <a:spcPts val="0"/>
                        </a:spcAft>
                        <a:buNone/>
                      </a:pPr>
                      <a:r>
                        <a:rPr lang="en"/>
                        <a:t>0.8500</a:t>
                      </a:r>
                      <a:endParaRPr/>
                    </a:p>
                  </a:txBody>
                  <a:tcPr marT="91425" marB="91425" marR="91425" marL="91425"/>
                </a:tc>
              </a:tr>
              <a:tr h="381000">
                <a:tc>
                  <a:txBody>
                    <a:bodyPr/>
                    <a:lstStyle/>
                    <a:p>
                      <a:pPr indent="0" lvl="0" marL="0" rtl="0" algn="l">
                        <a:spcBef>
                          <a:spcPts val="0"/>
                        </a:spcBef>
                        <a:spcAft>
                          <a:spcPts val="0"/>
                        </a:spcAft>
                        <a:buNone/>
                      </a:pPr>
                      <a:r>
                        <a:rPr lang="en"/>
                        <a:t>Large language model</a:t>
                      </a:r>
                      <a:endParaRPr/>
                    </a:p>
                  </a:txBody>
                  <a:tcPr marT="91425" marB="91425" marR="91425" marL="91425"/>
                </a:tc>
                <a:tc>
                  <a:txBody>
                    <a:bodyPr/>
                    <a:lstStyle/>
                    <a:p>
                      <a:pPr indent="0" lvl="0" marL="0" rtl="0" algn="l">
                        <a:spcBef>
                          <a:spcPts val="0"/>
                        </a:spcBef>
                        <a:spcAft>
                          <a:spcPts val="0"/>
                        </a:spcAft>
                        <a:buNone/>
                      </a:pPr>
                      <a:r>
                        <a:rPr lang="en"/>
                        <a:t>0.9550</a:t>
                      </a:r>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Work</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Would be better if I had had the foresight to take more precise time and cost measurements for each of the methods</a:t>
            </a:r>
            <a:endParaRPr/>
          </a:p>
          <a:p>
            <a:pPr indent="-342900" lvl="0" marL="457200" rtl="0" algn="l">
              <a:spcBef>
                <a:spcPts val="0"/>
              </a:spcBef>
              <a:spcAft>
                <a:spcPts val="0"/>
              </a:spcAft>
              <a:buSzPts val="1800"/>
              <a:buChar char="●"/>
            </a:pPr>
            <a:r>
              <a:rPr lang="en"/>
              <a:t>I am very curious about how the task could be performed with a transformer architecture or by fine-tuning a pretrained large language model</a:t>
            </a:r>
            <a:endParaRPr/>
          </a:p>
          <a:p>
            <a:pPr indent="-342900" lvl="0" marL="457200" rtl="0" algn="l">
              <a:spcBef>
                <a:spcPts val="0"/>
              </a:spcBef>
              <a:spcAft>
                <a:spcPts val="0"/>
              </a:spcAft>
              <a:buSzPts val="1800"/>
              <a:buChar char="●"/>
            </a:pPr>
            <a:r>
              <a:rPr lang="en"/>
              <a:t>Another application </a:t>
            </a:r>
            <a:r>
              <a:rPr lang="en"/>
              <a:t>could be sorting app reviews into the positive versus negative ones, so that an app could determine where to send the user (internal feedback system versus app store) just based on the user’s writing rather than an explicit rating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